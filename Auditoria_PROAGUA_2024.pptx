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AUDITORÍA PROAGUA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Gobierno del Estado de México</a:t>
            </a:r>
          </a:p>
          <a:p>
            <a:r>
              <a:t>Auditoría de Cumplimiento 2024-A-15000-19-0856-2025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1. Información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Auditoría No. 856 - Modalidad Presencial</a:t>
            </a:r>
          </a:p>
          <a:p>
            <a:pPr>
              <a:defRPr sz="1800"/>
            </a:pPr>
            <a:r>
              <a:t>Programa de Agua Potable, Drenaje y Tratamiento (PROAGUA)</a:t>
            </a:r>
          </a:p>
          <a:p>
            <a:pPr>
              <a:defRPr sz="1800"/>
            </a:pPr>
            <a:r>
              <a:t>Tipo: Auditoría de Cumplimiento 2024</a:t>
            </a:r>
          </a:p>
          <a:p>
            <a:pPr>
              <a:defRPr sz="1800"/>
            </a:pPr>
            <a:r>
              <a:t>Estado: Auditoría Superior de la Federación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2. Recursos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Universo Total del Programa: $2,606,615.1 miles de pesos</a:t>
            </a:r>
          </a:p>
          <a:p>
            <a:pPr>
              <a:defRPr sz="1800"/>
            </a:pPr>
            <a:r>
              <a:t>Recursos Transferidos al Estado de México: $197,904.0 miles</a:t>
            </a:r>
          </a:p>
          <a:p>
            <a:pPr>
              <a:defRPr sz="1800"/>
            </a:pPr>
            <a:r>
              <a:t>Muestra Auditada: $197,904.0 miles (100%)</a:t>
            </a:r>
          </a:p>
          <a:p>
            <a:pPr>
              <a:defRPr sz="1800"/>
            </a:pPr>
            <a:r>
              <a:t>Rendimientos Financieros: $13,145.9 miles</a:t>
            </a:r>
          </a:p>
          <a:p>
            <a:pPr>
              <a:defRPr sz="1800"/>
            </a:pPr>
            <a:r>
              <a:t>Recursos Disponibles: $211,058.4 miles de pesos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3. Destino de los Recursos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Total de Proyectos: 53 proyectos</a:t>
            </a:r>
          </a:p>
          <a:p>
            <a:pPr>
              <a:defRPr sz="1800"/>
            </a:pPr>
            <a:r>
              <a:t>Importe Pagado (al 31/julio/2025): $134,099.3 miles (63.6%)</a:t>
            </a:r>
          </a:p>
          <a:p>
            <a:pPr>
              <a:defRPr sz="1800"/>
            </a:pPr>
            <a:r>
              <a:t>Componentes principales:</a:t>
            </a:r>
          </a:p>
          <a:p>
            <a:pPr>
              <a:defRPr sz="1800"/>
            </a:pPr>
            <a:r>
              <a:t>  • Agua Potable Rehabilitado: 29 proyectos (46.9%)</a:t>
            </a:r>
          </a:p>
          <a:p>
            <a:pPr>
              <a:defRPr sz="1800"/>
            </a:pPr>
            <a:r>
              <a:t>  • Mejoramiento de eficiencia: 14 proyectos (8.0%)</a:t>
            </a:r>
          </a:p>
          <a:p>
            <a:pPr>
              <a:defRPr sz="1800"/>
            </a:pPr>
            <a:r>
              <a:t>  • Supervisión, Atención Social y Fortalecimiento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Distribución por Componente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531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Proyectos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Importe (miles $)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Agua Potable - Nuevo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6,472.4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3.1%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Agua Potable - Rehabilitado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98,922.2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46.9%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Mejoramiento de eficiencia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16,786.6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8.0%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Alcantarillado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3,511.9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1.7%</a:t>
                      </a:r>
                    </a:p>
                  </a:txBody>
                  <a:tcPr/>
                </a:tc>
              </a:tr>
              <a:tr h="653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Desinfección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4,500.0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2.1%</a:t>
                      </a:r>
                    </a:p>
                  </a:txBody>
                  <a:tcPr/>
                </a:tc>
              </a:tr>
              <a:tr h="653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Supervisión y Otros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3,906.2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4. Dependencias Ejecutoras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CAEM (Comisión del Agua): $122,408.2 miles</a:t>
            </a:r>
          </a:p>
          <a:p>
            <a:pPr>
              <a:defRPr sz="1800"/>
            </a:pPr>
            <a:r>
              <a:t>ODAPAS Chalco: $4,936.9 miles</a:t>
            </a:r>
          </a:p>
          <a:p>
            <a:pPr>
              <a:defRPr sz="1800"/>
            </a:pPr>
            <a:r>
              <a:t>Aguas de Huixquilucan: $4,705.8 miles</a:t>
            </a:r>
          </a:p>
          <a:p>
            <a:pPr>
              <a:defRPr sz="1800"/>
            </a:pPr>
            <a:r>
              <a:t>OPDAPAS San Mateo Atenco: $1,950.0 miles</a:t>
            </a:r>
          </a:p>
          <a:p>
            <a:pPr>
              <a:defRPr sz="1800"/>
            </a:pPr>
            <a:r>
              <a:t>APAST Tultitlán: $540.0 miles</a:t>
            </a:r>
          </a:p>
          <a:p>
            <a:pPr>
              <a:defRPr sz="1800"/>
            </a:pPr>
            <a:r>
              <a:t>ODAPAZ Zumpango: $2,000.0 miles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5. Hallazgos Positivos 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Transparencia en Adjudicación:</a:t>
            </a:r>
          </a:p>
          <a:p>
            <a:pPr>
              <a:defRPr sz="1800"/>
            </a:pPr>
            <a:r>
              <a:t>  • 25 contratos adjudicados conforme a normativa</a:t>
            </a:r>
          </a:p>
          <a:p>
            <a:pPr>
              <a:defRPr sz="1800"/>
            </a:pPr>
            <a:r>
              <a:t>  • 8 por licitación pública ($156,840.6 miles)</a:t>
            </a:r>
          </a:p>
          <a:p>
            <a:pPr>
              <a:defRPr sz="1800"/>
            </a:pPr>
            <a:r>
              <a:t>  • 12 por invitación a 3 personas ($76,478.6 miles)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Verificación Física Exitosa:</a:t>
            </a:r>
          </a:p>
          <a:p>
            <a:pPr>
              <a:defRPr sz="1800"/>
            </a:pPr>
            <a:r>
              <a:t>  • 16 obras concluidas y operando adecuadamente</a:t>
            </a:r>
          </a:p>
          <a:p>
            <a:pPr>
              <a:defRPr sz="1800"/>
            </a:pPr>
            <a:r>
              <a:t>  • Registros contables actualizados y controlados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6. Observaciones Críticas 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Recursos No Reintegrados: $23,676.4 miles</a:t>
            </a:r>
          </a:p>
          <a:p>
            <a:pPr>
              <a:defRPr sz="1800"/>
            </a:pPr>
            <a:r>
              <a:t>   Pendiente: $13,165.4 miles de pesos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Pagos Sin Documentación: $652.1 miles</a:t>
            </a:r>
          </a:p>
          <a:p>
            <a:pPr>
              <a:defRPr sz="1800"/>
            </a:pPr>
            <a:r>
              <a:t>   Empresa EFECTIVALE - Combustible y alimentos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Obra Sin Propiedad del Predio: $1,467.7 miles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4. Anticipo No Amortizado: $2,662.5 miles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7. Incumplimientos Administrativos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Gestión Bancaria:</a:t>
            </a:r>
          </a:p>
          <a:p>
            <a:pPr>
              <a:defRPr sz="1800"/>
            </a:pPr>
            <a:r>
              <a:t>  ✗ Cuenta bancaria no exclusiva para recursos</a:t>
            </a:r>
          </a:p>
          <a:p>
            <a:pPr>
              <a:defRPr sz="1800"/>
            </a:pPr>
            <a:r>
              <a:t>  ✗ Transferencias fuera de plazo (&gt;10 días)</a:t>
            </a:r>
          </a:p>
          <a:p>
            <a:pPr>
              <a:defRPr sz="1800"/>
            </a:pPr>
            <a:r>
              <a:t>  ✗ 4 ejecutores sin cuentas exclusivas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Documentación:</a:t>
            </a:r>
          </a:p>
          <a:p>
            <a:pPr>
              <a:defRPr sz="1800"/>
            </a:pPr>
            <a:r>
              <a:t>  ✗ 6 contratos sin opinión fiscal del SAT</a:t>
            </a:r>
          </a:p>
          <a:p>
            <a:pPr>
              <a:defRPr sz="1800"/>
            </a:pPr>
            <a:r>
              <a:t>  ✗ 5 obras sin título de concesión CONAGUA</a:t>
            </a:r>
          </a:p>
          <a:p>
            <a:pPr>
              <a:defRPr sz="1800"/>
            </a:pPr>
            <a:r>
              <a:t>  ✗ 6 obras sin cierre administrativo completo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8. Daño a la Hacienda Pública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76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Monto (pesos)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Pagos sin devengación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$652,098.79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Pendiente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Recursos no reintegrados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$13,165,438.95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Parcial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Obra sin propiedad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$1,467,724.80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Pendiente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Anticipo no amortizado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$2,662,537.23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Pendiente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$17,947,799.77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9. Transparencia y Rendición de Cuentas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Cumplimientos ✓:</a:t>
            </a:r>
          </a:p>
          <a:p>
            <a:pPr>
              <a:defRPr sz="1800"/>
            </a:pPr>
            <a:r>
              <a:t>  • Información reportada a SHCP mediante SRFT (CAEM)</a:t>
            </a:r>
          </a:p>
          <a:p>
            <a:pPr>
              <a:defRPr sz="1800"/>
            </a:pPr>
            <a:r>
              <a:t>  • Difusión en página de internet</a:t>
            </a:r>
          </a:p>
          <a:p>
            <a:pPr>
              <a:defRPr sz="1800"/>
            </a:pPr>
            <a:r>
              <a:t>  • Leyenda normativa en publicidad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Incumplimientos ✗:</a:t>
            </a:r>
          </a:p>
          <a:p>
            <a:pPr>
              <a:defRPr sz="1800"/>
            </a:pPr>
            <a:r>
              <a:t>  • 5 dependencias ejecutoras NO reportaron:</a:t>
            </a:r>
          </a:p>
          <a:p>
            <a:pPr>
              <a:defRPr sz="1800"/>
            </a:pPr>
            <a:r>
              <a:t>    ODAPAS Chalco, Aguas de Huixquilucan,</a:t>
            </a:r>
          </a:p>
          <a:p>
            <a:pPr>
              <a:defRPr sz="1800"/>
            </a:pPr>
            <a:r>
              <a:t>    OPDAPAS San Mateo, APAST Tultitlán, ODAPAZ Zumpango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10. Indicadores de Desempeño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Cobertura de Agua Potable:</a:t>
            </a:r>
          </a:p>
          <a:p>
            <a:pPr>
              <a:defRPr sz="1800"/>
            </a:pPr>
            <a:r>
              <a:t>  • Meta normativa: ≥97.5%</a:t>
            </a:r>
          </a:p>
          <a:p>
            <a:pPr>
              <a:defRPr sz="1800"/>
            </a:pPr>
            <a:r>
              <a:t>  • Cobertura alcanzada: 97.1%</a:t>
            </a:r>
          </a:p>
          <a:p>
            <a:pPr>
              <a:defRPr sz="1800"/>
            </a:pPr>
            <a:r>
              <a:t>  • Estado: ⚠ Por debajo de la meta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Límites de Gasto Especial:</a:t>
            </a:r>
          </a:p>
          <a:p>
            <a:pPr>
              <a:defRPr sz="1800"/>
            </a:pPr>
            <a:r>
              <a:t>  ✓ Desinfección: $4,500.0 miles (dentro de límite)</a:t>
            </a:r>
          </a:p>
          <a:p>
            <a:pPr>
              <a:defRPr sz="1800"/>
            </a:pPr>
            <a:r>
              <a:t>  ✓ Fortalecimiento: $972.9 miles (dentro de límite)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11. Acciones Promovidas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Pliegos de Observaciones: 4</a:t>
            </a:r>
          </a:p>
          <a:p>
            <a:pPr>
              <a:defRPr sz="1800"/>
            </a:pPr>
            <a:r>
              <a:t>  • Total Observado: $28,540,922.05</a:t>
            </a:r>
          </a:p>
          <a:p>
            <a:pPr>
              <a:defRPr sz="1800"/>
            </a:pPr>
            <a:r>
              <a:t>  • Recuperado durante auditoría: $10,593,122.28</a:t>
            </a:r>
          </a:p>
          <a:p>
            <a:pPr>
              <a:defRPr sz="1800"/>
            </a:pPr>
            <a:r>
              <a:t>  • Pendiente: $17,947,799.77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Procedimientos Administrativos: 19 expedientes</a:t>
            </a:r>
          </a:p>
          <a:p>
            <a:pPr>
              <a:defRPr sz="1800"/>
            </a:pPr>
            <a:r>
              <a:t>  • OIC Secretaría de Finanzas</a:t>
            </a:r>
          </a:p>
          <a:p>
            <a:pPr>
              <a:defRPr sz="1800"/>
            </a:pPr>
            <a:r>
              <a:t>  • OIC CAEM</a:t>
            </a:r>
          </a:p>
          <a:p>
            <a:pPr>
              <a:defRPr sz="1800"/>
            </a:pPr>
            <a:r>
              <a:t>  • OIC Organismos Municipales (6)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12. Conclusiones - Fortalezas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Dictamen: GESTIÓN RAZONABLE CON ÁREAS DE OPORTUNIDAD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100% de recursos auditados</a:t>
            </a:r>
          </a:p>
          <a:p>
            <a:pPr>
              <a:defRPr sz="1800"/>
            </a:pPr>
            <a:r>
              <a:t>✓ Obras físicamente verificadas y en operación</a:t>
            </a:r>
          </a:p>
          <a:p>
            <a:pPr>
              <a:defRPr sz="1800"/>
            </a:pPr>
            <a:r>
              <a:t>✓ Procesos de adjudicación transparentes</a:t>
            </a:r>
          </a:p>
          <a:p>
            <a:pPr>
              <a:defRPr sz="1800"/>
            </a:pPr>
            <a:r>
              <a:t>✓ Registro contable adecuado</a:t>
            </a:r>
          </a:p>
          <a:p>
            <a:pPr>
              <a:defRPr sz="1800"/>
            </a:pPr>
            <a:r>
              <a:t>✓ Recuperación de $10,593,122.28 durante auditoría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13. Conclusiones - Debilidades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✗ Control interno deficiente en gestión bancaria</a:t>
            </a:r>
          </a:p>
          <a:p>
            <a:pPr>
              <a:defRPr sz="1800"/>
            </a:pPr>
            <a:r>
              <a:t>✗ Falta de documentación soporte en pagos</a:t>
            </a:r>
          </a:p>
          <a:p>
            <a:pPr>
              <a:defRPr sz="1800"/>
            </a:pPr>
            <a:r>
              <a:t>✗ Incumplimiento de contraparte estatal:</a:t>
            </a:r>
          </a:p>
          <a:p>
            <a:pPr>
              <a:defRPr sz="1800"/>
            </a:pPr>
            <a:r>
              <a:t>   Comprometida: $230,850.6 miles</a:t>
            </a:r>
          </a:p>
          <a:p>
            <a:pPr>
              <a:defRPr sz="1800"/>
            </a:pPr>
            <a:r>
              <a:t>   Realizada: $174,552.6 miles</a:t>
            </a:r>
          </a:p>
          <a:p>
            <a:pPr>
              <a:defRPr sz="1800"/>
            </a:pPr>
            <a:r>
              <a:t>   Faltante: $56,298.0 miles</a:t>
            </a:r>
          </a:p>
          <a:p>
            <a:pPr>
              <a:defRPr sz="1800"/>
            </a:pPr>
            <a:r>
              <a:t>✗ Reintegros fuera de plazo</a:t>
            </a:r>
          </a:p>
          <a:p>
            <a:pPr>
              <a:defRPr sz="1800"/>
            </a:pPr>
            <a:r>
              <a:t>✗ Obras sin cierre administrativo</a:t>
            </a:r>
          </a:p>
          <a:p>
            <a:pPr>
              <a:defRPr sz="1800"/>
            </a:pPr>
            <a:r>
              <a:t>✗ Transparencia incompleta (ejecutores municipales)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14. Recomendaciones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Gestión Financiera:</a:t>
            </a:r>
          </a:p>
          <a:p>
            <a:pPr>
              <a:defRPr sz="1800"/>
            </a:pPr>
            <a:r>
              <a:t>   • Cuentas bancarias exclusivas por programa</a:t>
            </a:r>
          </a:p>
          <a:p>
            <a:pPr>
              <a:defRPr sz="1800"/>
            </a:pPr>
            <a:r>
              <a:t>   • Transferencias dentro de plazos normativos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Control Documental:</a:t>
            </a:r>
          </a:p>
          <a:p>
            <a:pPr>
              <a:defRPr sz="1800"/>
            </a:pPr>
            <a:r>
              <a:t>   • Verificación de opinión fiscal antes de contratar</a:t>
            </a:r>
          </a:p>
          <a:p>
            <a:pPr>
              <a:defRPr sz="1800"/>
            </a:pPr>
            <a:r>
              <a:t>   • Cierre administrativo oportuno de obras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Cumplimiento Normativo:</a:t>
            </a:r>
          </a:p>
          <a:p>
            <a:pPr>
              <a:defRPr sz="1800"/>
            </a:pPr>
            <a:r>
              <a:t>   • Garantizar contraparte estatal comprometida</a:t>
            </a:r>
          </a:p>
          <a:p>
            <a:pPr>
              <a:defRPr sz="1800"/>
            </a:pPr>
            <a:r>
              <a:t>   • Reportes completos de todos los ejecutores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15. Principales Proyectos Revisados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Proyecto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Monto (miles $)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Rehabilitación Jocotitlán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$14,830.1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Ampliación Taborda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$6,956.2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Equipamiento Tepexpan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$6,338.7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Rehabilitación Jaltenco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$5,677.9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Rehabilitación Santiago Huitlapaltepec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$5,664.6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Datos de Contacto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Auditoría Superior de la Federación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Director de Área: Ing. Daniel Palacios Téllez</a:t>
            </a:r>
          </a:p>
          <a:p>
            <a:pPr>
              <a:defRPr sz="1800"/>
            </a:pPr>
            <a:r>
              <a:t>Director General: Lic. Marciano Cruz Ángeles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Fecha de Informe: 2025</a:t>
            </a:r>
          </a:p>
          <a:p>
            <a:pPr>
              <a:defRPr sz="1800"/>
            </a:pPr>
            <a:r>
              <a:t>Tipo: Auditoría de Cumplimiento - Cuenta Pública 2024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Documento base: Informe Individual del Resultado de</a:t>
            </a:r>
          </a:p>
          <a:p>
            <a:pPr>
              <a:defRPr sz="1800"/>
            </a:pPr>
            <a:r>
              <a:t>la Fiscalización Superior - Auditoría No. 856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